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Classification Accuracy by Method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 Features</c:v>
                </c:pt>
              </c:strCache>
            </c:strRef>
          </c:tx>
          <c:spPr>
            <a:solidFill>
              <a:srgbClr val="8899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Breast Cancer</c:v>
                  </c:pt>
                  <c:pt idx="1">
                    <c:v>Ionosphere</c:v>
                  </c:pt>
                  <c:pt idx="2">
                    <c:v>Madelon</c:v>
                  </c:pt>
                  <c:pt idx="3">
                    <c:v>Spambase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91.2</c:v>
                </c:pt>
                <c:pt idx="1">
                  <c:v>84.6</c:v>
                </c:pt>
                <c:pt idx="2">
                  <c:v>58.3</c:v>
                </c:pt>
                <c:pt idx="3">
                  <c:v>88.1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Forward Selection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Breast Cancer</c:v>
                  </c:pt>
                  <c:pt idx="1">
                    <c:v>Ionosphere</c:v>
                  </c:pt>
                  <c:pt idx="2">
                    <c:v>Madelon</c:v>
                  </c:pt>
                  <c:pt idx="3">
                    <c:v>Spambase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93.4</c:v>
                </c:pt>
                <c:pt idx="1">
                  <c:v>88.9</c:v>
                </c:pt>
                <c:pt idx="2">
                  <c:v>64.7</c:v>
                </c:pt>
                <c:pt idx="3">
                  <c:v>90.8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A* Agent (Ours)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Breast Cancer</c:v>
                  </c:pt>
                  <c:pt idx="1">
                    <c:v>Ionosphere</c:v>
                  </c:pt>
                  <c:pt idx="2">
                    <c:v>Madelon</c:v>
                  </c:pt>
                  <c:pt idx="3">
                    <c:v>Spambase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95.6</c:v>
                </c:pt>
                <c:pt idx="1">
                  <c:v>91.3</c:v>
                </c:pt>
                <c:pt idx="2">
                  <c:v>67.4</c:v>
                </c:pt>
                <c:pt idx="3">
                  <c:v>92.7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5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Accuracy Degradation on Madelon (Adversarial Dataset)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 Features</c:v>
                </c:pt>
              </c:strCache>
            </c:strRef>
          </c:tx>
          <c:spPr>
            <a:solidFill>
              <a:srgbClr val="8899AA"/>
            </a:solidFill>
            <a:ln w="38100" cap="flat">
              <a:solidFill>
                <a:srgbClr val="8899A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899AA"/>
              </a:solidFill>
              <a:ln w="9525" cap="flat">
                <a:solidFill>
                  <a:srgbClr val="8899A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Clean</c:v>
                  </c:pt>
                  <c:pt idx="1">
                    <c:v>25% Noise</c:v>
                  </c:pt>
                  <c:pt idx="2">
                    <c:v>50% Noise</c:v>
                  </c:pt>
                  <c:pt idx="3">
                    <c:v>100% Noise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58.3</c:v>
                </c:pt>
                <c:pt idx="1">
                  <c:v>54.1</c:v>
                </c:pt>
                <c:pt idx="2">
                  <c:v>48.7</c:v>
                </c:pt>
                <c:pt idx="3">
                  <c:v>42.6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A* Agent (Ours)</c:v>
                </c:pt>
              </c:strCache>
            </c:strRef>
          </c:tx>
          <c:spPr>
            <a:solidFill>
              <a:srgbClr val="02C39A"/>
            </a:solidFill>
            <a:ln w="3810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Clean</c:v>
                  </c:pt>
                  <c:pt idx="1">
                    <c:v>25% Noise</c:v>
                  </c:pt>
                  <c:pt idx="2">
                    <c:v>50% Noise</c:v>
                  </c:pt>
                  <c:pt idx="3">
                    <c:v>100% Noise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67.4</c:v>
                </c:pt>
                <c:pt idx="1">
                  <c:v>64.2</c:v>
                </c:pt>
                <c:pt idx="2">
                  <c:v>62.1</c:v>
                </c:pt>
                <c:pt idx="3">
                  <c:v>59.1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3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926080"/>
            <a:ext cx="2011680" cy="201168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029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CS3081: Artificial Intelligence  ·  Spring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in AI Using Search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Probabilistic Reasoning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11480" y="2651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Robust Classification Under Noisy Conditions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3246120"/>
            <a:ext cx="4114800" cy="274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Faisal Yahya  ·  Faisal Shamsi  ·  Omar Almutairi  ·  Abdulaziz Al Bukhari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Effat University  ·  Department of Computer Science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429768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4297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Domain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18872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43200" cy="1097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🔊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2057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Data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datasets contain corrupted sensors, measurement errors, and Gaussian noise that degrade classifier performance.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88720"/>
            <a:ext cx="2743200" cy="1097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371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🧩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00400" y="2057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Features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7560" y="251460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correlated or irrelevant features exponentially expand the search space and confuse learning algorithms.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188720"/>
            <a:ext cx="2743200" cy="1097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371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⚠️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26480" y="2057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Deceptive Signals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251460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Adversarially injected features are designed to mislead classifiers — a scenario common in medical and security domains.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an agent correctly classify data when the environment is noisy, incomplete, or adversarial?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02336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972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Search Engine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Selection — greedy baseline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Search — heuristic-guided optimal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Heuristic: Mutual Information of features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binary feature mask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maximize classification accuracy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09728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097280"/>
            <a:ext cx="402336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0972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Probabilistic Reasoning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Classifier as oracle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194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evaluation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651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incomplete information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108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modeled via probability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566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Per-feature MI score computation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4023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subset evaluation store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60520" y="2651760"/>
            <a:ext cx="822960" cy="82296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3" name="Text 21"/>
          <p:cNvSpPr/>
          <p:nvPr/>
        </p:nvSpPr>
        <p:spPr>
          <a:xfrm>
            <a:off x="4160520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36576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188720"/>
            <a:ext cx="1645920" cy="10058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 noise)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20240" y="1691640"/>
            <a:ext cx="5486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1188720"/>
            <a:ext cx="1645920" cy="1005840"/>
          </a:xfrm>
          <a:prstGeom prst="rect">
            <a:avLst/>
          </a:prstGeom>
          <a:solidFill>
            <a:srgbClr val="1B2A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94560" y="1188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0" y="1691640"/>
            <a:ext cx="5486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1188720"/>
            <a:ext cx="1645920" cy="100584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0" y="1188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(A*)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1691640"/>
            <a:ext cx="5486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188720"/>
            <a:ext cx="1645920" cy="1005840"/>
          </a:xfrm>
          <a:prstGeom prst="rect">
            <a:avLst/>
          </a:prstGeom>
          <a:solidFill>
            <a:srgbClr val="1B2A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1188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80960" y="1691640"/>
            <a:ext cx="5486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0" y="1188720"/>
            <a:ext cx="1645920" cy="100584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0" y="1188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0" y="2468880"/>
            <a:ext cx="3566160" cy="36576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19" name="Shape 17"/>
          <p:cNvSpPr/>
          <p:nvPr/>
        </p:nvSpPr>
        <p:spPr>
          <a:xfrm>
            <a:off x="4114800" y="2468880"/>
            <a:ext cx="0" cy="-274320"/>
          </a:xfrm>
          <a:prstGeom prst="line">
            <a:avLst/>
          </a:prstGeom>
          <a:noFill/>
          <a:ln w="25400">
            <a:solidFill>
              <a:srgbClr val="F4A3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2468880"/>
            <a:ext cx="0" cy="-274320"/>
          </a:xfrm>
          <a:prstGeom prst="line">
            <a:avLst/>
          </a:prstGeom>
          <a:noFill/>
          <a:ln w="25400">
            <a:solidFill>
              <a:srgbClr val="F4A3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2560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Feedback Loop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926080"/>
            <a:ext cx="8595360" cy="59436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29260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29260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— Caches evaluated subsets to avoid redundant classifier training, dramatically reducing search cost.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611880"/>
            <a:ext cx="8595360" cy="59436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36118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3611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Function h(n) — Estimates remaining accuracy gain using normalized mutual information — proven admissible.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297680"/>
            <a:ext cx="8595360" cy="59436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42976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0120" y="42976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Environment — Gaussian noise σ ∈ [0, 0.5] + synthetic random features at 25%, 50%, 100% injection rates.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Experimental Setup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274320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97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1097280"/>
            <a:ext cx="128016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3063240" y="10972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097280"/>
            <a:ext cx="128016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10972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77840" y="1097280"/>
            <a:ext cx="329184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5623560" y="10972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481328"/>
            <a:ext cx="27432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4813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Wisconsin Breast Cancer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1481328"/>
            <a:ext cx="12801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063240" y="14813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569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1481328"/>
            <a:ext cx="12801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14813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1481328"/>
            <a:ext cx="3291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623560" y="14813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(Benign/Malignant)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1865376"/>
            <a:ext cx="2743200" cy="384048"/>
          </a:xfrm>
          <a:prstGeom prst="rect">
            <a:avLst/>
          </a:prstGeom>
          <a:solidFill>
            <a:srgbClr val="EBF4F7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186537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Ionosphere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17520" y="1865376"/>
            <a:ext cx="1280160" cy="384048"/>
          </a:xfrm>
          <a:prstGeom prst="rect">
            <a:avLst/>
          </a:prstGeom>
          <a:solidFill>
            <a:srgbClr val="EBF4F7"/>
          </a:solidFill>
          <a:ln/>
        </p:spPr>
      </p:sp>
      <p:sp>
        <p:nvSpPr>
          <p:cNvPr id="24" name="Text 22"/>
          <p:cNvSpPr/>
          <p:nvPr/>
        </p:nvSpPr>
        <p:spPr>
          <a:xfrm>
            <a:off x="3063240" y="18653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0" y="1865376"/>
            <a:ext cx="1280160" cy="384048"/>
          </a:xfrm>
          <a:prstGeom prst="rect">
            <a:avLst/>
          </a:prstGeom>
          <a:solidFill>
            <a:srgbClr val="EBF4F7"/>
          </a:solidFill>
          <a:ln/>
        </p:spPr>
      </p:sp>
      <p:sp>
        <p:nvSpPr>
          <p:cNvPr id="26" name="Text 24"/>
          <p:cNvSpPr/>
          <p:nvPr/>
        </p:nvSpPr>
        <p:spPr>
          <a:xfrm>
            <a:off x="4343400" y="18653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77840" y="1865376"/>
            <a:ext cx="3291840" cy="384048"/>
          </a:xfrm>
          <a:prstGeom prst="rect">
            <a:avLst/>
          </a:prstGeom>
          <a:solidFill>
            <a:srgbClr val="EBF4F7"/>
          </a:solidFill>
          <a:ln/>
        </p:spPr>
      </p:sp>
      <p:sp>
        <p:nvSpPr>
          <p:cNvPr id="28" name="Text 26"/>
          <p:cNvSpPr/>
          <p:nvPr/>
        </p:nvSpPr>
        <p:spPr>
          <a:xfrm>
            <a:off x="5623560" y="18653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(Good/Bad)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2249424"/>
            <a:ext cx="27432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224942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Madelon (Adversarial)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017520" y="2249424"/>
            <a:ext cx="12801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3063240" y="224942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97680" y="2249424"/>
            <a:ext cx="12801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343400" y="224942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77840" y="2249424"/>
            <a:ext cx="3291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623560" y="224942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(Binary)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2633472"/>
            <a:ext cx="2743200" cy="384048"/>
          </a:xfrm>
          <a:prstGeom prst="rect">
            <a:avLst/>
          </a:prstGeom>
          <a:solidFill>
            <a:srgbClr val="EBF4F7"/>
          </a:solidFill>
          <a:ln/>
        </p:spPr>
      </p:sp>
      <p:sp>
        <p:nvSpPr>
          <p:cNvPr id="38" name="Text 36"/>
          <p:cNvSpPr/>
          <p:nvPr/>
        </p:nvSpPr>
        <p:spPr>
          <a:xfrm>
            <a:off x="320040" y="26334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Spambase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017520" y="2633472"/>
            <a:ext cx="1280160" cy="384048"/>
          </a:xfrm>
          <a:prstGeom prst="rect">
            <a:avLst/>
          </a:prstGeom>
          <a:solidFill>
            <a:srgbClr val="EBF4F7"/>
          </a:solidFill>
          <a:ln/>
        </p:spPr>
      </p:sp>
      <p:sp>
        <p:nvSpPr>
          <p:cNvPr id="40" name="Text 38"/>
          <p:cNvSpPr/>
          <p:nvPr/>
        </p:nvSpPr>
        <p:spPr>
          <a:xfrm>
            <a:off x="3063240" y="26334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4,601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97680" y="2633472"/>
            <a:ext cx="1280160" cy="384048"/>
          </a:xfrm>
          <a:prstGeom prst="rect">
            <a:avLst/>
          </a:prstGeom>
          <a:solidFill>
            <a:srgbClr val="EBF4F7"/>
          </a:solidFill>
          <a:ln/>
        </p:spPr>
      </p:sp>
      <p:sp>
        <p:nvSpPr>
          <p:cNvPr id="42" name="Text 40"/>
          <p:cNvSpPr/>
          <p:nvPr/>
        </p:nvSpPr>
        <p:spPr>
          <a:xfrm>
            <a:off x="4343400" y="26334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577840" y="2633472"/>
            <a:ext cx="3291840" cy="384048"/>
          </a:xfrm>
          <a:prstGeom prst="rect">
            <a:avLst/>
          </a:prstGeom>
          <a:solidFill>
            <a:srgbClr val="EBF4F7"/>
          </a:solidFill>
          <a:ln/>
        </p:spPr>
      </p:sp>
      <p:sp>
        <p:nvSpPr>
          <p:cNvPr id="44" name="Text 42"/>
          <p:cNvSpPr/>
          <p:nvPr/>
        </p:nvSpPr>
        <p:spPr>
          <a:xfrm>
            <a:off x="5623560" y="26334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(Spam/Ham)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74320" y="3154680"/>
            <a:ext cx="859536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6" name="Text 44"/>
          <p:cNvSpPr/>
          <p:nvPr/>
        </p:nvSpPr>
        <p:spPr>
          <a:xfrm>
            <a:off x="320040" y="31546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Perturbation Protocol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65760" y="3611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Gaussian Noise: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423160" y="36118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0.3 added to all continuous features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65760" y="3977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Synthetic Features: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423160" y="39776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25%, 50%, 100% random features injected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65760" y="4343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Label Corruption: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423160" y="434340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random class label flips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65760" y="4709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Total Conditions: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423160" y="47091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settings (4 datasets × 3 noise levels + clean)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A896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274320" y="105156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143000"/>
            <a:ext cx="28346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89320" y="1143000"/>
            <a:ext cx="91440" cy="8229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5"/>
          <p:cNvSpPr/>
          <p:nvPr/>
        </p:nvSpPr>
        <p:spPr>
          <a:xfrm>
            <a:off x="6172200" y="11887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+6.1%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172200" y="15727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accuracy gain over all-features baseline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89320" y="2103120"/>
            <a:ext cx="28346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89320" y="2103120"/>
            <a:ext cx="91440" cy="8229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6172200" y="2148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172200" y="25328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feature dimensionality reduction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89320" y="3063240"/>
            <a:ext cx="28346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89320" y="3063240"/>
            <a:ext cx="91440" cy="8229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6172200" y="3108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847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172200" y="34930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subsets evaluated (vs 4096+ exhaustive)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89320" y="4023360"/>
            <a:ext cx="28346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89320" y="4023360"/>
            <a:ext cx="91440" cy="8229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0" name="Text 17"/>
          <p:cNvSpPr/>
          <p:nvPr/>
        </p:nvSpPr>
        <p:spPr>
          <a:xfrm>
            <a:off x="6172200" y="4069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11/12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172200" y="44531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conditions where A* wins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Robustness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A896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274320" y="105156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097280"/>
            <a:ext cx="3017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0" y="1143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Graceful Degradation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0" y="148132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drops only 8.3pp as noise increases to 100%, vs 15.7pp drop for all-features baseline.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52160" y="2057400"/>
            <a:ext cx="3017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0" y="2103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Noise Filtering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0" y="24414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actively rejects noise-corrupted features, preserving signal in retained dimensions.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52160" y="3017520"/>
            <a:ext cx="3017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43600" y="3063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Madelon Benchmark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0" y="34015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identifies all 20 truly informative features (out of 500) in 8 of 10 runs.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52160" y="3977640"/>
            <a:ext cx="3017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943600" y="4023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Search Efficiency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43600" y="43616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evaluates ~847 subsets vs. 4,096+ exhaustive — optimal solution with a fraction of the compute.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Reproducibility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14300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34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8928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114300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08960" y="1234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108960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18928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Bayes, metrics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0" y="114300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0" y="1234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943600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18928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33172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2423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7432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30815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08960" y="233172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108960" y="2423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10896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08960" y="30815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repo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0" y="233172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0" y="2423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94360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0" y="30815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site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520440"/>
            <a:ext cx="8595360" cy="13716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Repository Structure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391363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  agent.py · search.py · evaluator.py · heuristics.py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  raw/ · augmented/ · splits/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notebooks/  experiments.ipynb · analysis.ipynb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  ·  README.md  ·  report.pdf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3657600" cy="36576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1148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43000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43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1155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formulated as adversarial search — principled and effective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801368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801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77393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with MI heuristic outperforms all baselines across 12 adversarial conditions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459736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459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243230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average dimensionality reduction with +6.1% accuracy improvement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118104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118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30906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behavior: only 8.3pp drop vs 15.7pp for baseline under maximum noise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3776472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776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374904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reproducible open-source framework aligned with Vision 2030 AI goals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4389120"/>
            <a:ext cx="8321040" cy="50292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389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Joint MI heuristic · Online learning · Multiclass extension · Interactive Streamlit demo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github.com/cs3081-group  ·  Effat University, Spring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Selection AI Agent</dc:title>
  <dc:subject>PptxGenJS Presentation</dc:subject>
  <dc:creator>CS3081 Group</dc:creator>
  <cp:lastModifiedBy>CS3081 Group</cp:lastModifiedBy>
  <cp:revision>1</cp:revision>
  <dcterms:created xsi:type="dcterms:W3CDTF">2026-04-27T15:06:20Z</dcterms:created>
  <dcterms:modified xsi:type="dcterms:W3CDTF">2026-04-27T15:06:20Z</dcterms:modified>
</cp:coreProperties>
</file>